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Use this slide to explain ClearEdge Solutions' customer-first role in specialty chemical supply, technical offsets, sourcing, stocking, and blending. Keep examples tied to the customer's market and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interior_industrial_wareho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1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02920"/>
            <a:ext cx="411480" cy="411480"/>
          </a:xfrm>
          <a:prstGeom prst="hexagon">
            <a:avLst/>
          </a:prstGeom>
          <a:solidFill>
            <a:srgbClr val="00A8B5"/>
          </a:solidFill>
          <a:ln w="12700">
            <a:solidFill>
              <a:srgbClr val="4DE8F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1800000">
            <a:off x="714146" y="576986"/>
            <a:ext cx="263347" cy="263347"/>
          </a:xfrm>
          <a:prstGeom prst="arc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152144" y="43891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61288" y="704088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4DE8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</a:t>
            </a:r>
            <a:endParaRPr lang="en-US" sz="630" dirty="0"/>
          </a:p>
        </p:txBody>
      </p:sp>
      <p:sp>
        <p:nvSpPr>
          <p:cNvPr id="8" name="Text 5"/>
          <p:cNvSpPr/>
          <p:nvPr/>
        </p:nvSpPr>
        <p:spPr>
          <a:xfrm>
            <a:off x="658368" y="1993392"/>
            <a:ext cx="74980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Specialty Chemical Supply, Technical Support &amp; Practical Manufacturing Solutions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685800" y="3364992"/>
            <a:ext cx="66751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help coatings, adhesives, sealants, plastics, inks, construction, and composites manufacturers source, offset, blend, and commercialize specialty raw materials with fewer supply-chain headaches.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5800" y="480060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00A8B5">
              <a:alpha val="92000"/>
            </a:srgbClr>
          </a:solidFill>
          <a:ln w="12700">
            <a:solidFill>
              <a:srgbClr val="00A8B5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4846320"/>
            <a:ext cx="16184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Customer-first technical sales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2670048" y="480060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663399">
              <a:alpha val="92000"/>
            </a:srgbClr>
          </a:solidFill>
          <a:ln w="12700">
            <a:solidFill>
              <a:srgbClr val="66339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52344" y="4846320"/>
            <a:ext cx="11612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network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160520" y="480060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00A8B5">
              <a:alpha val="92000"/>
            </a:srgbClr>
          </a:solidFill>
          <a:ln w="12700">
            <a:solidFill>
              <a:srgbClr val="00A8B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42816" y="4846320"/>
            <a:ext cx="1435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stocking &amp; blending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5925312" y="480060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663399">
              <a:alpha val="92000"/>
            </a:srgbClr>
          </a:solidFill>
          <a:ln w="12700">
            <a:solidFill>
              <a:srgbClr val="66339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07608" y="4846320"/>
            <a:ext cx="11612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Reverse engineering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713232" y="6053328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7E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overview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3093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We 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6309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specialty chemical partner built for customers who need responsive support, practical alternatives, and reliable raw material access.</a:t>
            </a:r>
            <a:endParaRPr lang="en-US" sz="1250" dirty="0"/>
          </a:p>
        </p:txBody>
      </p:sp>
      <p:pic>
        <p:nvPicPr>
          <p:cNvPr id="5" name="Image 0" descr="/mnt/data/a_clean_modern_high_tech_laboratory_or_paint_che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0"/>
            <a:ext cx="4507992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0"/>
            <a:ext cx="164592" cy="6858000"/>
          </a:xfrm>
          <a:prstGeom prst="rect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664208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IN ONE SENTENCE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1792" y="1938528"/>
            <a:ext cx="63550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connect technical chemistry, sourcing, inventory, and manufacturing support so customers can solve problems faster than they can through large, slow-moving channels.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658368" y="331927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3246120"/>
            <a:ext cx="589788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Specialty raw material distributor and manufacturer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" y="3794760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3721608"/>
            <a:ext cx="589788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product offsets for premium additive and resin lines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8368" y="427024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4197096"/>
            <a:ext cx="589788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Customer-driven stocking, blending, tolling, and formulation support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8368" y="4745736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" y="4672584"/>
            <a:ext cx="5897880" cy="4480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on speed, flexibility, and practical problem solving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composite_illustration_of_batch_4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347472"/>
            <a:ext cx="256032" cy="256032"/>
          </a:xfrm>
          <a:prstGeom prst="hexagon">
            <a:avLst/>
          </a:prstGeom>
          <a:solidFill>
            <a:srgbClr val="00A8B5"/>
          </a:solidFill>
          <a:ln w="12700">
            <a:solidFill>
              <a:srgbClr val="4DE8F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1800000">
            <a:off x="549006" y="393558"/>
            <a:ext cx="163860" cy="163860"/>
          </a:xfrm>
          <a:prstGeom prst="arc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859536" y="283464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548640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4DE8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</a:t>
            </a:r>
            <a:endParaRPr lang="en-US" sz="48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76809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Problems We Help Customers Reduce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203911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965960"/>
            <a:ext cx="5623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lead times and unpredictable import timing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7240" y="2615184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542032"/>
            <a:ext cx="5623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One-source dependence on large chemical suppliers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7240" y="3191256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118104"/>
            <a:ext cx="5623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Expensive branded additives with limited flexibility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77240" y="376732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3694176"/>
            <a:ext cx="5623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Small-volume technical problems that large suppliers ignore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77240" y="4343400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270248"/>
            <a:ext cx="5623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for faster offsets, samples, and practical formulation help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949440" y="1572768"/>
            <a:ext cx="0" cy="4206240"/>
          </a:xfrm>
          <a:prstGeom prst="line">
            <a:avLst/>
          </a:prstGeom>
          <a:noFill/>
          <a:ln w="25400">
            <a:solidFill>
              <a:srgbClr val="4DE8F4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6092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E8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position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60920" y="2286000"/>
            <a:ext cx="34747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nimble technical supplier that can stock, blend, source, and develop alternatives around the customer’s actual production needs.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approach is simple: understand the application, identify the right chemistry, and support the customer through commercialization.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057400" cy="1005840"/>
          </a:xfrm>
          <a:prstGeom prst="chevron">
            <a:avLst/>
          </a:prstGeom>
          <a:solidFill>
            <a:srgbClr val="00A8B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579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441448"/>
            <a:ext cx="1645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application, pain point, specs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2011680"/>
            <a:ext cx="2057400" cy="1005840"/>
          </a:xfrm>
          <a:prstGeom prst="chevron">
            <a:avLst/>
          </a:prstGeom>
          <a:solidFill>
            <a:srgbClr val="663399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1579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81528" y="2441448"/>
            <a:ext cx="1645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lines, offsets, options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74920" y="2011680"/>
            <a:ext cx="2057400" cy="1005840"/>
          </a:xfrm>
          <a:prstGeom prst="chevron">
            <a:avLst/>
          </a:prstGeom>
          <a:solidFill>
            <a:srgbClr val="00A8B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21579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76088" y="2441448"/>
            <a:ext cx="1645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samples, lab checks, customer trials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269480" y="2011680"/>
            <a:ext cx="2057400" cy="1005840"/>
          </a:xfrm>
          <a:prstGeom prst="chevron">
            <a:avLst/>
          </a:prstGeom>
          <a:solidFill>
            <a:srgbClr val="663399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4072" y="21579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70648" y="2441448"/>
            <a:ext cx="1645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stock, imports, logistics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464040" y="2011680"/>
            <a:ext cx="2057400" cy="1005840"/>
          </a:xfrm>
          <a:prstGeom prst="chevron">
            <a:avLst/>
          </a:prstGeom>
          <a:solidFill>
            <a:srgbClr val="00A8B5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2157984"/>
            <a:ext cx="17373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65208" y="2441448"/>
            <a:ext cx="1645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blending, private label, tolling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" y="3886200"/>
            <a:ext cx="9966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customers a practical path from problem to product - without forcing them to wait months for answers or carry inventory risk alone.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1600200" y="514807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5074920"/>
            <a:ext cx="86410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Fit-for-use discussions before quoting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600200" y="5532120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5458968"/>
            <a:ext cx="86410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alternatives where they make sense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600200" y="591616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5843016"/>
            <a:ext cx="86410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support after the first sample ships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Families We Support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works across multiple raw material categories commonly used in coatings, adhesives, sealants, plastics, inks, composites, and construction products.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291840" cy="118872"/>
          </a:xfrm>
          <a:prstGeom prst="rect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57400"/>
            <a:ext cx="2788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Additives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05840" y="286207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Defoamers &amp; deaerators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300984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227832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Wetting agents &amp; dispersants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666744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Slip, flow, leveling, surface control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417880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105656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Silanes &amp; water repellents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178308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783080"/>
            <a:ext cx="3291840" cy="118872"/>
          </a:xfrm>
          <a:prstGeom prst="rect">
            <a:avLst/>
          </a:prstGeom>
          <a:solidFill>
            <a:srgbClr val="6633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057400"/>
            <a:ext cx="2788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Resins &amp; Reactives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800600" y="286207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Epoxy resins and curing agents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3300984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27832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Reactive diluents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00600" y="3739896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666744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acrylates, monomers, oligomers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00600" y="417880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105656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Polyaspartic and coating resin support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75320" y="178308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1783080"/>
            <a:ext cx="3291840" cy="118872"/>
          </a:xfrm>
          <a:prstGeom prst="rect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31352" y="2057400"/>
            <a:ext cx="2788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Materials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595360" y="286207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2788920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Wax additives and dispersions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95360" y="3300984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3227832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Flame retardants and synergists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95360" y="3739896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3666744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Silicas and matting agents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595360" y="417880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4105656"/>
            <a:ext cx="2514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Pigments and pigment dispersions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industrial_interior_scene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1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20040"/>
            <a:ext cx="5760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Lines &amp; Strategic Coverage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24128"/>
            <a:ext cx="5806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combine represented product lines with qualified sourcing and technical development to give customers options.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areas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Atul / Lapox epoxy systems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749808" y="2432304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8408" y="2359152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SynthEdge UV monomers, oligomers, photoinitiators, and additives</a:t>
            </a:r>
            <a:endParaRPr lang="en-US" sz="1420" dirty="0"/>
          </a:p>
        </p:txBody>
      </p:sp>
      <p:sp>
        <p:nvSpPr>
          <p:cNvPr id="13" name="Shape 10"/>
          <p:cNvSpPr/>
          <p:nvPr/>
        </p:nvSpPr>
        <p:spPr>
          <a:xfrm>
            <a:off x="749808" y="2962656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8408" y="2889504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Rudolf / Access Rudolf coating additives and silanes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749808" y="349300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419856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DEUREX wax technologies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749808" y="4023360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8408" y="3950208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SilaZen sourcing network for broader chemical supply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749808" y="4892040"/>
            <a:ext cx="516636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position these lines as practical alternatives and complementary solutions - not just catalog items.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7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Offsets &amp; Reverse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7E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helps customers evaluate alternatives to premium additives and resins when supply, cost, or support becomes a problem.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05840" y="2011680"/>
            <a:ext cx="1005840" cy="1005840"/>
          </a:xfrm>
          <a:prstGeom prst="arc">
            <a:avLst/>
          </a:prstGeom>
          <a:noFill/>
          <a:ln w="76200">
            <a:solidFill>
              <a:srgbClr val="00A8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344168" y="2304288"/>
            <a:ext cx="274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target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011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7E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product, function, dosage, constraints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1005840" cy="1005840"/>
          </a:xfrm>
          <a:prstGeom prst="arc">
            <a:avLst/>
          </a:prstGeom>
          <a:noFill/>
          <a:ln w="76200">
            <a:solidFill>
              <a:srgbClr val="66339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133088" y="2304288"/>
            <a:ext cx="274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chemistry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749040"/>
            <a:ext cx="2011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7E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composition, functionality, and handling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583680" y="2011680"/>
            <a:ext cx="1005840" cy="1005840"/>
          </a:xfrm>
          <a:prstGeom prst="arc">
            <a:avLst/>
          </a:prstGeom>
          <a:noFill/>
          <a:ln w="76200">
            <a:solidFill>
              <a:srgbClr val="00A8B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922008" y="2304288"/>
            <a:ext cx="274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/ customer trial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3749040"/>
            <a:ext cx="2011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7E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checks, sample support, adjustment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372600" y="2011680"/>
            <a:ext cx="1005840" cy="1005840"/>
          </a:xfrm>
          <a:prstGeom prst="arc">
            <a:avLst/>
          </a:prstGeom>
          <a:noFill/>
          <a:ln w="76200">
            <a:solidFill>
              <a:srgbClr val="663399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710928" y="2304288"/>
            <a:ext cx="2743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Commercialize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3749040"/>
            <a:ext cx="2011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D7E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Stocking, packaging, private label, documentation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1005840" y="5230368"/>
            <a:ext cx="10149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offset targets: BYK, Evonik, TEGO, Surfynol / Dynol style products, Solsperse dispersants, selected epoxy curing agents, and specialty UV additives.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interior_industrial_wareho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2120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74920" y="0"/>
            <a:ext cx="164592" cy="6858000"/>
          </a:xfrm>
          <a:prstGeom prst="rect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32120" y="320040"/>
            <a:ext cx="5989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Manufacturing, Blending &amp; Inventory Support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5321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32120" y="1024128"/>
            <a:ext cx="5486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can support customers beyond simple distribution.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0" y="1600200"/>
            <a:ext cx="1920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715000" y="203911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965960"/>
            <a:ext cx="521208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stocking to reduce customer lead-time pressure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715000" y="2551176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478024"/>
            <a:ext cx="521208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Drum, tote, and bulk-packaging support where practical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715000" y="3063240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990088"/>
            <a:ext cx="521208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Blending support for epoxy systems, additives, waxes, silanes, and specialty raw materials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715000" y="3575304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502152"/>
            <a:ext cx="521208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Private-label opportunities for customers who need a repeatable finished system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715000" y="4087368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4014216"/>
            <a:ext cx="521208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Growing production footprint in Newberry, South Carolina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Quality, Documentation &amp; Compliance Mindset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 supply is not just about moving drums. It is about moving the right material with the right paperwork and the right expectations.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0" cy="1005840"/>
          </a:xfrm>
          <a:prstGeom prst="line">
            <a:avLst/>
          </a:prstGeom>
          <a:noFill/>
          <a:ln w="508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297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SDS, TDS, COA, labels, regulatory support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901952"/>
            <a:ext cx="0" cy="1005840"/>
          </a:xfrm>
          <a:prstGeom prst="line">
            <a:avLst/>
          </a:prstGeom>
          <a:noFill/>
          <a:ln w="50800">
            <a:solidFill>
              <a:srgbClr val="663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HazMat awareness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4297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UN, DOT, GHS, storage and handling review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502152"/>
            <a:ext cx="0" cy="1005840"/>
          </a:xfrm>
          <a:prstGeom prst="line">
            <a:avLst/>
          </a:prstGeom>
          <a:noFill/>
          <a:ln w="508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9000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discipline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tracking, retains, customer feedback loops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3502152"/>
            <a:ext cx="0" cy="1005840"/>
          </a:xfrm>
          <a:prstGeom prst="line">
            <a:avLst/>
          </a:prstGeom>
          <a:noFill/>
          <a:ln w="50800">
            <a:solidFill>
              <a:srgbClr val="663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429000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transparency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3840480"/>
            <a:ext cx="42976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timing, pricing, and replacement-cost discussions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25880" y="5532120"/>
            <a:ext cx="9601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goal is to help customers avoid surprises: performance surprises, delivery surprises, and documentation surprises.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Markets We Serve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built around customers that need specialty materials, technical flexibility, and responsive commercial support.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57400" y="1947672"/>
            <a:ext cx="1554480" cy="585216"/>
          </a:xfrm>
          <a:prstGeom prst="roundRect">
            <a:avLst>
              <a:gd name="adj" fmla="val 9375"/>
            </a:avLst>
          </a:prstGeom>
          <a:solidFill>
            <a:srgbClr val="00A8B5">
              <a:alpha val="9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76272" y="213969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Coatings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846320" y="1719072"/>
            <a:ext cx="1554480" cy="585216"/>
          </a:xfrm>
          <a:prstGeom prst="roundRect">
            <a:avLst>
              <a:gd name="adj" fmla="val 9375"/>
            </a:avLst>
          </a:prstGeom>
          <a:solidFill>
            <a:srgbClr val="663399">
              <a:alpha val="9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191109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Adhesives &amp; Sealants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635240" y="1947672"/>
            <a:ext cx="1554480" cy="585216"/>
          </a:xfrm>
          <a:prstGeom prst="roundRect">
            <a:avLst>
              <a:gd name="adj" fmla="val 9375"/>
            </a:avLst>
          </a:prstGeom>
          <a:solidFill>
            <a:srgbClr val="00A8B5">
              <a:alpha val="9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213969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Products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057400" y="4507992"/>
            <a:ext cx="1554480" cy="585216"/>
          </a:xfrm>
          <a:prstGeom prst="roundRect">
            <a:avLst>
              <a:gd name="adj" fmla="val 9375"/>
            </a:avLst>
          </a:prstGeom>
          <a:solidFill>
            <a:srgbClr val="663399">
              <a:alpha val="9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470001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Inks &amp; UV Cure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46320" y="4736592"/>
            <a:ext cx="1554480" cy="585216"/>
          </a:xfrm>
          <a:prstGeom prst="roundRect">
            <a:avLst>
              <a:gd name="adj" fmla="val 9375"/>
            </a:avLst>
          </a:prstGeom>
          <a:solidFill>
            <a:srgbClr val="00A8B5">
              <a:alpha val="9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492861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Plastics &amp; Masterbatch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635240" y="4507992"/>
            <a:ext cx="1554480" cy="585216"/>
          </a:xfrm>
          <a:prstGeom prst="roundRect">
            <a:avLst>
              <a:gd name="adj" fmla="val 9375"/>
            </a:avLst>
          </a:prstGeom>
          <a:solidFill>
            <a:srgbClr val="663399">
              <a:alpha val="9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4700016"/>
            <a:ext cx="131673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Composites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956048" y="2852928"/>
            <a:ext cx="2249424" cy="1335024"/>
          </a:xfrm>
          <a:prstGeom prst="ellipse">
            <a:avLst/>
          </a:prstGeom>
          <a:solidFill>
            <a:srgbClr val="071827"/>
          </a:solidFill>
          <a:ln w="25400">
            <a:solidFill>
              <a:srgbClr val="00A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3163824"/>
            <a:ext cx="1417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0120" y="5715000"/>
            <a:ext cx="102412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support both commodity-adjacent supply needs and higher-value technical projects where chemistry matters.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high_tech_laboratory_or_paint_che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1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7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347472"/>
            <a:ext cx="256032" cy="256032"/>
          </a:xfrm>
          <a:prstGeom prst="hexagon">
            <a:avLst/>
          </a:prstGeom>
          <a:solidFill>
            <a:srgbClr val="00A8B5"/>
          </a:solidFill>
          <a:ln w="12700">
            <a:solidFill>
              <a:srgbClr val="4DE8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1800000">
            <a:off x="549006" y="393558"/>
            <a:ext cx="163860" cy="163860"/>
          </a:xfrm>
          <a:prstGeom prst="arc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859536" y="283464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548640"/>
            <a:ext cx="1325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4DE8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</a:t>
            </a:r>
            <a:endParaRPr lang="en-US" sz="480" dirty="0"/>
          </a:p>
        </p:txBody>
      </p:sp>
      <p:sp>
        <p:nvSpPr>
          <p:cNvPr id="9" name="Text 6"/>
          <p:cNvSpPr/>
          <p:nvPr/>
        </p:nvSpPr>
        <p:spPr>
          <a:xfrm>
            <a:off x="64008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Customers Choose ClearEdge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777240" y="2112264"/>
            <a:ext cx="50292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173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703320" y="1993392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answers, samples, and options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77240" y="2980944"/>
            <a:ext cx="502920" cy="0"/>
          </a:xfrm>
          <a:prstGeom prst="line">
            <a:avLst/>
          </a:prstGeom>
          <a:noFill/>
          <a:ln w="38100">
            <a:solidFill>
              <a:srgbClr val="663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732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Flexibility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03320" y="2862072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locked into one chemistry or one route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77240" y="3849624"/>
            <a:ext cx="50292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173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translation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703320" y="3730752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bridge formulation needs with commercial supply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77240" y="4718304"/>
            <a:ext cx="502920" cy="0"/>
          </a:xfrm>
          <a:prstGeom prst="line">
            <a:avLst/>
          </a:prstGeom>
          <a:noFill/>
          <a:ln w="38100">
            <a:solidFill>
              <a:srgbClr val="6633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1732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703320" y="4599432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communication and practical follow-through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14400" y="5669280"/>
            <a:ext cx="9875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is not just what we sell. It is how quickly we help customers get to a workable answer.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With ClearEdge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097280" cy="0"/>
          </a:xfrm>
          <a:prstGeom prst="line">
            <a:avLst/>
          </a:prstGeom>
          <a:noFill/>
          <a:ln w="38100">
            <a:solidFill>
              <a:srgbClr val="00A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7863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path for customers who want to evaluate a product, source an alternative, or develop a new supply solution.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6263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product target, SDS/TDS, or performance requirement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5059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77440"/>
            <a:ext cx="6263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must-haves: chemistry, VOC, silicone-free, APEO-free, viscosity, cost, lead time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04495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971800"/>
            <a:ext cx="6263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proposes options, samples, and commercial path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639312"/>
            <a:ext cx="109728" cy="10972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66160"/>
            <a:ext cx="6263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2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trial, pricing, stocking plan, and scale-up support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18120" y="150876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071827"/>
          </a:solidFill>
          <a:ln w="16510">
            <a:solidFill>
              <a:srgbClr val="00A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920240"/>
            <a:ext cx="26060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47888" y="2606040"/>
            <a:ext cx="25603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Specialty chemical supply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offsets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Blending &amp; manufacturing support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EF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Customer-driven stocking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4114800"/>
            <a:ext cx="2148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E8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Newberry, South Carolina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5623560"/>
            <a:ext cx="9966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us the product you need, the problem you are trying to solve, or the supplier you need to offset.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2011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ClearEdge Solutions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92840" y="6437376"/>
            <a:ext cx="3657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ClearEdge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ClearEdge Solutions - Company Overview</dc:title>
  <dc:subject>ClearEdge Solutions branding presentation</dc:subject>
  <dc:creator>ClearEdge Solutions</dc:creator>
  <cp:lastModifiedBy>ClearEdge Solutions</cp:lastModifiedBy>
  <cp:revision>1</cp:revision>
  <dcterms:created xsi:type="dcterms:W3CDTF">2026-05-04T16:29:00Z</dcterms:created>
  <dcterms:modified xsi:type="dcterms:W3CDTF">2026-05-04T16:29:00Z</dcterms:modified>
</cp:coreProperties>
</file>